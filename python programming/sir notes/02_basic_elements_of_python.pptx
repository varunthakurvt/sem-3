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8" r:id="rId3"/>
    <p:sldId id="263" r:id="rId4"/>
    <p:sldId id="264" r:id="rId5"/>
    <p:sldId id="257" r:id="rId6"/>
    <p:sldId id="260" r:id="rId7"/>
    <p:sldId id="261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D0E29-19E4-4857-87CC-3957DD15F48A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8BD43-2CF7-4125-9AAF-D034B3D2F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91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8BD43-2CF7-4125-9AAF-D034B3D2F44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23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53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88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6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85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0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88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30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62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94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71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90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F375813-D027-49EC-9CD9-E45C06C7C514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719D88E-BDAA-4895-8594-46A4B997BB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8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7147-A9DC-4D0C-15F2-BFE78025D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basic elements of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1673B-F55B-267C-88C4-F6731D667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53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E180-2648-3794-0F07-3DE64BC4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791A4-6624-0BEB-149E-68D4D4EE7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are the core things that Python programs manipulate. </a:t>
            </a:r>
          </a:p>
          <a:p>
            <a:r>
              <a:rPr lang="en-US" dirty="0"/>
              <a:t>Every object has a type that defines the kinds of things that programs can do with objects of that type.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445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E08F-6223-05AE-0872-6FFA62A8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Identifiers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FCDD-246E-94F4-94DD-0877E2E1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 is a user-defined name given to a variable, function, class, module, etc. The identifier is a combination of character digits and an underscore. </a:t>
            </a:r>
          </a:p>
          <a:p>
            <a:r>
              <a:rPr lang="en-US" dirty="0"/>
              <a:t>They are case-sensitive i.e., ‘num’ and ‘Num’ and ‘NUM’ are three different identifiers in python. </a:t>
            </a:r>
          </a:p>
          <a:p>
            <a:r>
              <a:rPr lang="en-US" dirty="0"/>
              <a:t>It is a good programming practice to give meaningful names to identifiers to make the code understandable.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808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0EE-9932-9F3E-F621-0F53B8B6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Naming Python Identifiers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88593-CCA9-52C9-FDBB-672671EB6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7292659" cy="4050792"/>
          </a:xfrm>
        </p:spPr>
        <p:txBody>
          <a:bodyPr/>
          <a:lstStyle/>
          <a:p>
            <a:r>
              <a:rPr lang="en-US" dirty="0"/>
              <a:t>It cannot be a reserved python keyword.</a:t>
            </a:r>
          </a:p>
          <a:p>
            <a:r>
              <a:rPr lang="en-US" dirty="0"/>
              <a:t>It should not contain white space.</a:t>
            </a:r>
          </a:p>
          <a:p>
            <a:r>
              <a:rPr lang="en-US" dirty="0"/>
              <a:t>It can be a combination of A-Z, a-z, 0-9, or underscore.</a:t>
            </a:r>
          </a:p>
          <a:p>
            <a:r>
              <a:rPr lang="en-US" dirty="0"/>
              <a:t>It should start with an alphabet character or an underscore ( _ ).</a:t>
            </a:r>
          </a:p>
          <a:p>
            <a:r>
              <a:rPr lang="en-US" dirty="0"/>
              <a:t>It should not contain any special character other than an underscore ( _ ).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5A784-3E53-FB27-9254-E6370B1F7AF2}"/>
              </a:ext>
            </a:extLst>
          </p:cNvPr>
          <p:cNvSpPr txBox="1"/>
          <p:nvPr/>
        </p:nvSpPr>
        <p:spPr>
          <a:xfrm>
            <a:off x="8941981" y="2093976"/>
            <a:ext cx="26900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Examples:</a:t>
            </a:r>
          </a:p>
          <a:p>
            <a:endParaRPr lang="en-IN" b="1" dirty="0"/>
          </a:p>
          <a:p>
            <a:r>
              <a:rPr lang="en-IN" b="1" dirty="0"/>
              <a:t>Valid identifiers:</a:t>
            </a:r>
          </a:p>
          <a:p>
            <a:endParaRPr lang="en-IN" dirty="0"/>
          </a:p>
          <a:p>
            <a:r>
              <a:rPr lang="en-IN" dirty="0"/>
              <a:t>var1</a:t>
            </a:r>
          </a:p>
          <a:p>
            <a:r>
              <a:rPr lang="en-IN" dirty="0"/>
              <a:t>_var1</a:t>
            </a:r>
          </a:p>
          <a:p>
            <a:r>
              <a:rPr lang="en-IN" dirty="0"/>
              <a:t>_1_var</a:t>
            </a:r>
          </a:p>
          <a:p>
            <a:r>
              <a:rPr lang="en-IN" dirty="0"/>
              <a:t>var_1</a:t>
            </a:r>
          </a:p>
          <a:p>
            <a:endParaRPr lang="en-IN" dirty="0"/>
          </a:p>
          <a:p>
            <a:r>
              <a:rPr lang="en-IN" b="1" dirty="0"/>
              <a:t>Invalid Identifiers</a:t>
            </a:r>
          </a:p>
          <a:p>
            <a:endParaRPr lang="en-IN" dirty="0"/>
          </a:p>
          <a:p>
            <a:r>
              <a:rPr lang="en-IN" dirty="0"/>
              <a:t>!var1</a:t>
            </a:r>
          </a:p>
          <a:p>
            <a:r>
              <a:rPr lang="en-IN" dirty="0"/>
              <a:t>1var</a:t>
            </a:r>
          </a:p>
          <a:p>
            <a:r>
              <a:rPr lang="en-IN" dirty="0"/>
              <a:t>1_var</a:t>
            </a:r>
          </a:p>
          <a:p>
            <a:r>
              <a:rPr lang="en-IN" dirty="0"/>
              <a:t>var#1</a:t>
            </a:r>
          </a:p>
          <a:p>
            <a:r>
              <a:rPr lang="en-IN" dirty="0"/>
              <a:t>var 1</a:t>
            </a:r>
          </a:p>
        </p:txBody>
      </p:sp>
    </p:spTree>
    <p:extLst>
      <p:ext uri="{BB962C8B-B14F-4D97-AF65-F5344CB8AC3E}">
        <p14:creationId xmlns:p14="http://schemas.microsoft.com/office/powerpoint/2010/main" val="865125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EB26-E28F-00C8-64EA-3F20F40F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0EDD-EF0F-36C2-C3D5-CC1CE0F29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275366"/>
            <a:ext cx="5182096" cy="3896833"/>
          </a:xfrm>
        </p:spPr>
        <p:txBody>
          <a:bodyPr/>
          <a:lstStyle/>
          <a:p>
            <a:r>
              <a:rPr lang="en-US" dirty="0"/>
              <a:t>Variables provide a way to associate names with objects. </a:t>
            </a:r>
          </a:p>
          <a:p>
            <a:r>
              <a:rPr lang="en-US" dirty="0"/>
              <a:t>They are containers that store values. </a:t>
            </a:r>
          </a:p>
          <a:p>
            <a:r>
              <a:rPr lang="en-US" dirty="0"/>
              <a:t>Once an object is assigned to a variable, it can be referred to by that name.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4899A-C624-3943-D85F-38A634D0E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892" y="2093976"/>
            <a:ext cx="5362614" cy="2381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634500-AC8A-7678-9DC7-2FDD24F07AFF}"/>
              </a:ext>
            </a:extLst>
          </p:cNvPr>
          <p:cNvSpPr txBox="1"/>
          <p:nvPr/>
        </p:nvSpPr>
        <p:spPr>
          <a:xfrm>
            <a:off x="7767084" y="4768702"/>
            <a:ext cx="341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Binding of variables to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05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43C9-9A91-224D-8ED6-1B8B5411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E6FC-3140-1AAD-1C4C-29878363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Keywords in Python are reserved words that have special meanings and serve specific purposes in the language syntax. </a:t>
            </a:r>
          </a:p>
          <a:p>
            <a:r>
              <a:rPr lang="en-US" dirty="0"/>
              <a:t>Python keywords cannot be used as the names of variables, functions, and classes or any other identifier.</a:t>
            </a:r>
          </a:p>
          <a:p>
            <a:pPr marL="0" indent="0">
              <a:buNone/>
            </a:pPr>
            <a:r>
              <a:rPr lang="en-US" b="1" dirty="0"/>
              <a:t>Getting List of all Python keywords</a:t>
            </a:r>
          </a:p>
          <a:p>
            <a:pPr marL="0" indent="0">
              <a:buNone/>
            </a:pPr>
            <a:endParaRPr lang="en-US" b="1" dirty="0"/>
          </a:p>
          <a:p>
            <a:pPr marL="274320" lvl="1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keyword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printing all keywords at once using "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kwlist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()"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print("The list of keywords is : ")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keyword.kwlist</a:t>
            </a: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93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0457-F7CD-59A5-1FC6-23C34CB2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of Keywords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B04EAC-EA97-0133-2867-ABD533CEA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496844"/>
              </p:ext>
            </p:extLst>
          </p:nvPr>
        </p:nvGraphicFramePr>
        <p:xfrm>
          <a:off x="1069975" y="2601595"/>
          <a:ext cx="10058400" cy="308991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74701755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4080081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 dirty="0">
                          <a:effectLst/>
                        </a:rPr>
                        <a:t>Category</a:t>
                      </a:r>
                    </a:p>
                  </a:txBody>
                  <a:tcPr marL="38100" marR="3810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>
                          <a:effectLst/>
                        </a:rPr>
                        <a:t>Keywords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80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 dirty="0">
                          <a:effectLst/>
                        </a:rPr>
                        <a:t>Value Keywords</a:t>
                      </a:r>
                      <a:endParaRPr lang="en-IN" sz="1250" b="0" dirty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True, False, None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 dirty="0">
                          <a:effectLst/>
                        </a:rPr>
                        <a:t>Operator Keywords</a:t>
                      </a:r>
                      <a:endParaRPr lang="en-IN" sz="1250" b="0" dirty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and, or, not, in, is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176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 dirty="0">
                          <a:effectLst/>
                        </a:rPr>
                        <a:t>Control Flow Keywords</a:t>
                      </a:r>
                      <a:endParaRPr lang="en-IN" sz="1250" b="0" dirty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if, else, elif, for, while, break, continue, pass, try, except, finally, raise, assert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07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 dirty="0">
                          <a:effectLst/>
                        </a:rPr>
                        <a:t>Function and Class</a:t>
                      </a:r>
                      <a:endParaRPr lang="en-IN" sz="1250" b="0" dirty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>
                          <a:effectLst/>
                        </a:rPr>
                        <a:t>def, return, lambda, yield, class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91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>
                          <a:effectLst/>
                        </a:rPr>
                        <a:t>Context Management</a:t>
                      </a:r>
                      <a:endParaRPr lang="en-IN" sz="1250" b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>
                          <a:effectLst/>
                        </a:rPr>
                        <a:t>with, as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70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 dirty="0">
                          <a:effectLst/>
                        </a:rPr>
                        <a:t>Import and Module</a:t>
                      </a:r>
                      <a:endParaRPr lang="en-IN" sz="1250" b="0" dirty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 dirty="0">
                          <a:effectLst/>
                        </a:rPr>
                        <a:t>import, from, as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2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>
                          <a:effectLst/>
                        </a:rPr>
                        <a:t>Scope and Namespace</a:t>
                      </a:r>
                      <a:endParaRPr lang="en-IN" sz="1250" b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 dirty="0">
                          <a:effectLst/>
                        </a:rPr>
                        <a:t>global, nonlocal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754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1">
                          <a:effectLst/>
                        </a:rPr>
                        <a:t>Async Programming</a:t>
                      </a:r>
                      <a:endParaRPr lang="en-IN" sz="1250" b="0">
                        <a:effectLst/>
                      </a:endParaRP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50" b="0" dirty="0">
                          <a:effectLst/>
                        </a:rPr>
                        <a:t>async, await</a:t>
                      </a:r>
                    </a:p>
                  </a:txBody>
                  <a:tcPr marL="47625" marR="47625" marT="66675" marB="66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3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878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3963-E3CD-7CA4-044D-3D3243E9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67A4-4DEC-5B57-C534-223CF07FF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in Python are the lines in the code that are ignored by the interpreter during the execution of the program. </a:t>
            </a:r>
          </a:p>
          <a:p>
            <a:r>
              <a:rPr lang="en-US" dirty="0"/>
              <a:t>Also, Comments enhance the readability of the code and help the programmers to understand the code very carefully.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USE # for adding comments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This is Python Comment</a:t>
            </a:r>
          </a:p>
          <a:p>
            <a:r>
              <a:rPr lang="en-US" b="1" dirty="0"/>
              <a:t>Multi line comment : </a:t>
            </a:r>
            <a:r>
              <a:rPr lang="en-US" dirty="0"/>
              <a:t>It</a:t>
            </a:r>
            <a:r>
              <a:rPr lang="en-US" b="1" dirty="0"/>
              <a:t> </a:t>
            </a:r>
            <a:r>
              <a:rPr lang="en-US" dirty="0"/>
              <a:t>is useful when we need to comment on many lines. In python, triple double quote(“ “ “) and single quote(„ „ „)are used for multi-line commenting.</a:t>
            </a:r>
            <a:endParaRPr lang="en-US" dirty="0">
              <a:solidFill>
                <a:schemeClr val="accent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37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51C2-BE45-53B3-6E30-CB8E20EB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5082"/>
            <a:ext cx="10058400" cy="1401318"/>
          </a:xfrm>
        </p:spPr>
        <p:txBody>
          <a:bodyPr/>
          <a:lstStyle/>
          <a:p>
            <a:r>
              <a:rPr lang="en-IN" dirty="0"/>
              <a:t>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1229-78CA-5C2D-3335-627D1FD5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76400"/>
            <a:ext cx="10058400" cy="4495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Literals can be defined as data that is given in a variable or constant. The values can be a number, character, string or </a:t>
            </a:r>
            <a:r>
              <a:rPr lang="en-US" dirty="0" err="1"/>
              <a:t>boolean</a:t>
            </a:r>
            <a:r>
              <a:rPr lang="en-US" dirty="0"/>
              <a:t> values.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Types of Literals</a:t>
            </a:r>
            <a:r>
              <a:rPr lang="en-US" dirty="0"/>
              <a:t>:</a:t>
            </a:r>
          </a:p>
          <a:p>
            <a:pPr fontAlgn="base"/>
            <a:r>
              <a:rPr lang="en-US" b="1" dirty="0"/>
              <a:t>Numeric literals</a:t>
            </a:r>
            <a:r>
              <a:rPr lang="en-US" dirty="0"/>
              <a:t>: Numeric literal are immutable(can't be changed) and it can be  an integer , float and complex values. </a:t>
            </a:r>
          </a:p>
          <a:p>
            <a:pPr marL="274320" lvl="1" indent="0" fontAlgn="base">
              <a:buNone/>
            </a:pP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IN" b="0" i="0" u="none" strike="noStrike" dirty="0">
                <a:solidFill>
                  <a:srgbClr val="505050"/>
                </a:solidFill>
                <a:effectLst/>
                <a:latin typeface="times" panose="02020603050405020304" pitchFamily="18" charset="0"/>
              </a:rPr>
              <a:t>x=156</a:t>
            </a:r>
            <a:endParaRPr lang="en-IN" b="0" i="0" u="none" strike="noStrike" dirty="0">
              <a:solidFill>
                <a:srgbClr val="505050"/>
              </a:solidFill>
              <a:effectLst/>
              <a:latin typeface="Josefin Sans" pitchFamily="2" charset="0"/>
            </a:endParaRPr>
          </a:p>
          <a:p>
            <a:pPr marL="274320" lvl="1" indent="0" fontAlgn="base">
              <a:buNone/>
            </a:pPr>
            <a:r>
              <a:rPr lang="en-IN" b="0" i="0" u="none" strike="noStrike" dirty="0">
                <a:solidFill>
                  <a:srgbClr val="505050"/>
                </a:solidFill>
                <a:effectLst/>
                <a:latin typeface="times" panose="02020603050405020304" pitchFamily="18" charset="0"/>
              </a:rPr>
              <a:t> y=100.45</a:t>
            </a:r>
            <a:endParaRPr lang="en-US" dirty="0"/>
          </a:p>
          <a:p>
            <a:r>
              <a:rPr lang="en-US" b="1" dirty="0"/>
              <a:t>String literals</a:t>
            </a:r>
            <a:r>
              <a:rPr lang="en-US" dirty="0"/>
              <a:t> : String literal are enclosed with in quotes. we can use either single or double.</a:t>
            </a:r>
          </a:p>
          <a:p>
            <a:pPr marL="274320" lvl="1" indent="0">
              <a:buNone/>
            </a:pPr>
            <a:r>
              <a:rPr lang="en-US" dirty="0" err="1"/>
              <a:t>Eg</a:t>
            </a:r>
            <a:r>
              <a:rPr lang="en-US" dirty="0"/>
              <a:t>: 'hi', ''welcome‘’</a:t>
            </a:r>
          </a:p>
          <a:p>
            <a:r>
              <a:rPr lang="en-US" b="1" dirty="0"/>
              <a:t>Boolean literal </a:t>
            </a:r>
            <a:r>
              <a:rPr lang="en-US" dirty="0"/>
              <a:t>: can have only two values either true or false.</a:t>
            </a:r>
          </a:p>
          <a:p>
            <a:r>
              <a:rPr lang="en-US" b="1" dirty="0"/>
              <a:t>Special literal </a:t>
            </a:r>
            <a:r>
              <a:rPr lang="en-US" dirty="0"/>
              <a:t>: Python has only one special literal called ''none‘’.</a:t>
            </a:r>
          </a:p>
          <a:p>
            <a:r>
              <a:rPr lang="en-US" b="1" dirty="0"/>
              <a:t>Literal collection : </a:t>
            </a:r>
            <a:r>
              <a:rPr lang="en-US" dirty="0"/>
              <a:t>Literal collection segment to specify values for a collection data type.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95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E5BF-ADDC-966B-FC59-1EAC7CC0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248" y="2681732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256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1480</TotalTime>
  <Words>637</Words>
  <Application>Microsoft Office PowerPoint</Application>
  <PresentationFormat>Widescreen</PresentationFormat>
  <Paragraphs>84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Cascadia Code</vt:lpstr>
      <vt:lpstr>Josefin Sans</vt:lpstr>
      <vt:lpstr>Rockwell</vt:lpstr>
      <vt:lpstr>Rockwell Condensed</vt:lpstr>
      <vt:lpstr>times</vt:lpstr>
      <vt:lpstr>Wingdings</vt:lpstr>
      <vt:lpstr>Wood Type</vt:lpstr>
      <vt:lpstr>basic elements of python</vt:lpstr>
      <vt:lpstr>Objects</vt:lpstr>
      <vt:lpstr>Identifiers in Python</vt:lpstr>
      <vt:lpstr>Rules for Naming Python Identifiers</vt:lpstr>
      <vt:lpstr>Python Variable</vt:lpstr>
      <vt:lpstr>Python Keywords</vt:lpstr>
      <vt:lpstr>Category of Keywords </vt:lpstr>
      <vt:lpstr>Comments in Python</vt:lpstr>
      <vt:lpstr>Literals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Ishani Sharma</dc:creator>
  <cp:lastModifiedBy>Ishani Sharma</cp:lastModifiedBy>
  <cp:revision>6</cp:revision>
  <dcterms:created xsi:type="dcterms:W3CDTF">2025-02-05T04:01:20Z</dcterms:created>
  <dcterms:modified xsi:type="dcterms:W3CDTF">2025-08-13T05:46:41Z</dcterms:modified>
</cp:coreProperties>
</file>