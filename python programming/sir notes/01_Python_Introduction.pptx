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8" r:id="rId6"/>
    <p:sldId id="261" r:id="rId7"/>
    <p:sldId id="262" r:id="rId8"/>
    <p:sldId id="263" r:id="rId9"/>
    <p:sldId id="264"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90" d="100"/>
          <a:sy n="90" d="100"/>
        </p:scale>
        <p:origin x="87"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235328-3FEF-44CF-9693-F66D3753E674}"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A003817-7C54-4074-8CA8-33BB9185F1EC}" type="slidenum">
              <a:rPr lang="en-IN" smtClean="0"/>
              <a:t>‹#›</a:t>
            </a:fld>
            <a:endParaRPr lang="en-IN"/>
          </a:p>
        </p:txBody>
      </p:sp>
    </p:spTree>
    <p:extLst>
      <p:ext uri="{BB962C8B-B14F-4D97-AF65-F5344CB8AC3E}">
        <p14:creationId xmlns:p14="http://schemas.microsoft.com/office/powerpoint/2010/main" val="770395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35328-3FEF-44CF-9693-F66D3753E674}"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3978030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6C235328-3FEF-44CF-9693-F66D3753E674}" type="datetimeFigureOut">
              <a:rPr lang="en-IN" smtClean="0"/>
              <a:t>10-08-2026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A003817-7C54-4074-8CA8-33BB9185F1EC}" type="slidenum">
              <a:rPr lang="en-IN" smtClean="0"/>
              <a:t>‹#›</a:t>
            </a:fld>
            <a:endParaRPr lang="en-IN"/>
          </a:p>
        </p:txBody>
      </p:sp>
    </p:spTree>
    <p:extLst>
      <p:ext uri="{BB962C8B-B14F-4D97-AF65-F5344CB8AC3E}">
        <p14:creationId xmlns:p14="http://schemas.microsoft.com/office/powerpoint/2010/main" val="111728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235328-3FEF-44CF-9693-F66D3753E674}"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26651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235328-3FEF-44CF-9693-F66D3753E674}" type="datetimeFigureOut">
              <a:rPr lang="en-IN" smtClean="0"/>
              <a:t>10-08-2026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2539966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235328-3FEF-44CF-9693-F66D3753E674}" type="datetimeFigureOut">
              <a:rPr lang="en-IN" smtClean="0"/>
              <a:t>10-08-2026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1295125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235328-3FEF-44CF-9693-F66D3753E674}" type="datetimeFigureOut">
              <a:rPr lang="en-IN" smtClean="0"/>
              <a:t>10-08-2026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94858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35328-3FEF-44CF-9693-F66D3753E674}"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686414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235328-3FEF-44CF-9693-F66D3753E674}" type="datetimeFigureOut">
              <a:rPr lang="en-IN" smtClean="0"/>
              <a:t>10-08-2026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3936812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35328-3FEF-44CF-9693-F66D3753E674}"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2281006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35328-3FEF-44CF-9693-F66D3753E674}"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003817-7C54-4074-8CA8-33BB9185F1EC}" type="slidenum">
              <a:rPr lang="en-IN" smtClean="0"/>
              <a:t>‹#›</a:t>
            </a:fld>
            <a:endParaRPr lang="en-IN"/>
          </a:p>
        </p:txBody>
      </p:sp>
    </p:spTree>
    <p:extLst>
      <p:ext uri="{BB962C8B-B14F-4D97-AF65-F5344CB8AC3E}">
        <p14:creationId xmlns:p14="http://schemas.microsoft.com/office/powerpoint/2010/main" val="2712062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C235328-3FEF-44CF-9693-F66D3753E674}" type="datetimeFigureOut">
              <a:rPr lang="en-IN" smtClean="0"/>
              <a:t>10-08-2026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A003817-7C54-4074-8CA8-33BB9185F1EC}" type="slidenum">
              <a:rPr lang="en-IN" smtClean="0"/>
              <a:t>‹#›</a:t>
            </a:fld>
            <a:endParaRPr lang="en-IN"/>
          </a:p>
        </p:txBody>
      </p:sp>
    </p:spTree>
    <p:extLst>
      <p:ext uri="{BB962C8B-B14F-4D97-AF65-F5344CB8AC3E}">
        <p14:creationId xmlns:p14="http://schemas.microsoft.com/office/powerpoint/2010/main" val="24982206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dewith.mu/es/tutorials/1.0/" TargetMode="Externa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E9A84-A0AC-4647-AF53-10051229C693}"/>
              </a:ext>
            </a:extLst>
          </p:cNvPr>
          <p:cNvSpPr>
            <a:spLocks noGrp="1"/>
          </p:cNvSpPr>
          <p:nvPr>
            <p:ph type="ctrTitle"/>
          </p:nvPr>
        </p:nvSpPr>
        <p:spPr/>
        <p:txBody>
          <a:bodyPr/>
          <a:lstStyle/>
          <a:p>
            <a:r>
              <a:rPr lang="en-US" dirty="0"/>
              <a:t>Python Introduction</a:t>
            </a:r>
            <a:endParaRPr lang="en-IN" dirty="0"/>
          </a:p>
        </p:txBody>
      </p:sp>
      <p:sp>
        <p:nvSpPr>
          <p:cNvPr id="3" name="Subtitle 2">
            <a:extLst>
              <a:ext uri="{FF2B5EF4-FFF2-40B4-BE49-F238E27FC236}">
                <a16:creationId xmlns:a16="http://schemas.microsoft.com/office/drawing/2014/main" id="{536F4B41-58F8-4709-B64C-618BF2088FDA}"/>
              </a:ext>
            </a:extLst>
          </p:cNvPr>
          <p:cNvSpPr>
            <a:spLocks noGrp="1"/>
          </p:cNvSpPr>
          <p:nvPr>
            <p:ph type="subTitle" idx="1"/>
          </p:nvPr>
        </p:nvSpPr>
        <p:spPr/>
        <p:txBody>
          <a:bodyPr/>
          <a:lstStyle/>
          <a:p>
            <a:r>
              <a:rPr lang="en-IN" dirty="0"/>
              <a:t>Basics and Installation</a:t>
            </a:r>
          </a:p>
        </p:txBody>
      </p:sp>
      <p:pic>
        <p:nvPicPr>
          <p:cNvPr id="5" name="Picture 4">
            <a:extLst>
              <a:ext uri="{FF2B5EF4-FFF2-40B4-BE49-F238E27FC236}">
                <a16:creationId xmlns:a16="http://schemas.microsoft.com/office/drawing/2014/main" id="{5445AFF0-3F52-4A89-0DF2-3503002BDA0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98391" y="3595385"/>
            <a:ext cx="2852361" cy="1830392"/>
          </a:xfrm>
          <a:prstGeom prst="ellipse">
            <a:avLst/>
          </a:prstGeom>
          <a:ln>
            <a:noFill/>
          </a:ln>
          <a:effectLst>
            <a:softEdge rad="112500"/>
          </a:effectLst>
        </p:spPr>
      </p:pic>
    </p:spTree>
    <p:extLst>
      <p:ext uri="{BB962C8B-B14F-4D97-AF65-F5344CB8AC3E}">
        <p14:creationId xmlns:p14="http://schemas.microsoft.com/office/powerpoint/2010/main" val="2343123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1A4FE-944C-4B13-BDD8-8D0AA2DD022D}"/>
              </a:ext>
            </a:extLst>
          </p:cNvPr>
          <p:cNvSpPr>
            <a:spLocks noGrp="1"/>
          </p:cNvSpPr>
          <p:nvPr>
            <p:ph type="title"/>
          </p:nvPr>
        </p:nvSpPr>
        <p:spPr/>
        <p:txBody>
          <a:bodyPr/>
          <a:lstStyle/>
          <a:p>
            <a:r>
              <a:rPr lang="en-IN" b="0" i="0" dirty="0">
                <a:solidFill>
                  <a:srgbClr val="000000"/>
                </a:solidFill>
                <a:effectLst/>
                <a:latin typeface="Rockwell Condensed" panose="02060603050405020104" pitchFamily="18" charset="0"/>
              </a:rPr>
              <a:t>What is Python?</a:t>
            </a:r>
            <a:br>
              <a:rPr lang="en-IN" b="0" i="0" dirty="0">
                <a:solidFill>
                  <a:srgbClr val="000000"/>
                </a:solidFill>
                <a:effectLst/>
                <a:latin typeface="Rockwell Condensed" panose="02060603050405020104" pitchFamily="18" charset="0"/>
              </a:rPr>
            </a:br>
            <a:endParaRPr lang="en-IN" dirty="0">
              <a:latin typeface="Rockwell Condensed" panose="02060603050405020104" pitchFamily="18" charset="0"/>
            </a:endParaRPr>
          </a:p>
        </p:txBody>
      </p:sp>
      <p:sp>
        <p:nvSpPr>
          <p:cNvPr id="3" name="Content Placeholder 2">
            <a:extLst>
              <a:ext uri="{FF2B5EF4-FFF2-40B4-BE49-F238E27FC236}">
                <a16:creationId xmlns:a16="http://schemas.microsoft.com/office/drawing/2014/main" id="{C0E8F325-A2FD-45E5-AC3A-D5A01961190E}"/>
              </a:ext>
            </a:extLst>
          </p:cNvPr>
          <p:cNvSpPr>
            <a:spLocks noGrp="1"/>
          </p:cNvSpPr>
          <p:nvPr>
            <p:ph idx="1"/>
          </p:nvPr>
        </p:nvSpPr>
        <p:spPr/>
        <p:txBody>
          <a:bodyPr>
            <a:normAutofit/>
          </a:bodyPr>
          <a:lstStyle/>
          <a:p>
            <a:r>
              <a:rPr lang="en-US" dirty="0"/>
              <a:t>Python is a high-level, interpreted programming language.</a:t>
            </a:r>
          </a:p>
          <a:p>
            <a:r>
              <a:rPr lang="en-US" dirty="0"/>
              <a:t>Designed for readability and ease of use.</a:t>
            </a:r>
          </a:p>
          <a:p>
            <a:r>
              <a:rPr lang="en-US" dirty="0"/>
              <a:t>Supports multiple paradigms (procedural, object-oriented, functional).</a:t>
            </a:r>
          </a:p>
          <a:p>
            <a:r>
              <a:rPr lang="en-US" dirty="0"/>
              <a:t>Used for web development, data science, AI, automation, and more.</a:t>
            </a:r>
            <a:endParaRPr lang="en-IN" dirty="0"/>
          </a:p>
        </p:txBody>
      </p:sp>
    </p:spTree>
    <p:extLst>
      <p:ext uri="{BB962C8B-B14F-4D97-AF65-F5344CB8AC3E}">
        <p14:creationId xmlns:p14="http://schemas.microsoft.com/office/powerpoint/2010/main" val="3760527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B663-A55D-4704-9B5A-E42E8FE6B737}"/>
              </a:ext>
            </a:extLst>
          </p:cNvPr>
          <p:cNvSpPr>
            <a:spLocks noGrp="1"/>
          </p:cNvSpPr>
          <p:nvPr>
            <p:ph type="title"/>
          </p:nvPr>
        </p:nvSpPr>
        <p:spPr/>
        <p:txBody>
          <a:bodyPr/>
          <a:lstStyle/>
          <a:p>
            <a:r>
              <a:rPr lang="en-IN" dirty="0"/>
              <a:t>Features of Python</a:t>
            </a:r>
          </a:p>
        </p:txBody>
      </p:sp>
      <p:sp>
        <p:nvSpPr>
          <p:cNvPr id="3" name="Content Placeholder 2">
            <a:extLst>
              <a:ext uri="{FF2B5EF4-FFF2-40B4-BE49-F238E27FC236}">
                <a16:creationId xmlns:a16="http://schemas.microsoft.com/office/drawing/2014/main" id="{92CE06A0-6F79-4BD1-9763-2EDA220A48FC}"/>
              </a:ext>
            </a:extLst>
          </p:cNvPr>
          <p:cNvSpPr>
            <a:spLocks noGrp="1"/>
          </p:cNvSpPr>
          <p:nvPr>
            <p:ph idx="1"/>
          </p:nvPr>
        </p:nvSpPr>
        <p:spPr>
          <a:xfrm>
            <a:off x="838200" y="2093976"/>
            <a:ext cx="10515600" cy="4218124"/>
          </a:xfrm>
        </p:spPr>
        <p:txBody>
          <a:bodyPr>
            <a:normAutofit/>
          </a:bodyPr>
          <a:lstStyle/>
          <a:p>
            <a:pPr algn="just"/>
            <a:r>
              <a:rPr lang="en-US" b="1" dirty="0"/>
              <a:t>Easy to Learn </a:t>
            </a:r>
            <a:r>
              <a:rPr lang="en-US" dirty="0"/>
              <a:t>– Simple syntax like English.</a:t>
            </a:r>
          </a:p>
          <a:p>
            <a:pPr algn="just"/>
            <a:r>
              <a:rPr lang="en-US" b="1" dirty="0"/>
              <a:t>Interpreted</a:t>
            </a:r>
            <a:r>
              <a:rPr lang="en-US" dirty="0"/>
              <a:t> – Executes code line-by-line.</a:t>
            </a:r>
          </a:p>
          <a:p>
            <a:pPr algn="just"/>
            <a:r>
              <a:rPr lang="en-US" b="1" dirty="0"/>
              <a:t>Cross-platform</a:t>
            </a:r>
            <a:r>
              <a:rPr lang="en-US" dirty="0"/>
              <a:t> – Runs on Windows, macOS, Linux.</a:t>
            </a:r>
          </a:p>
          <a:p>
            <a:pPr algn="just"/>
            <a:r>
              <a:rPr lang="en-US" b="1" dirty="0"/>
              <a:t>Object-Oriented </a:t>
            </a:r>
            <a:r>
              <a:rPr lang="en-US" dirty="0"/>
              <a:t>– Supports OOP concepts.</a:t>
            </a:r>
          </a:p>
          <a:p>
            <a:pPr algn="just"/>
            <a:r>
              <a:rPr lang="en-US" b="1" dirty="0"/>
              <a:t>Dynamic Typing </a:t>
            </a:r>
            <a:r>
              <a:rPr lang="en-US" dirty="0"/>
              <a:t>– No need to declare variable types.</a:t>
            </a:r>
          </a:p>
          <a:p>
            <a:pPr algn="just"/>
            <a:r>
              <a:rPr lang="en-US" b="1" dirty="0"/>
              <a:t>Extensive Libraries </a:t>
            </a:r>
            <a:r>
              <a:rPr lang="en-US" dirty="0"/>
              <a:t>– NumPy, Pandas, TensorFlow, etc.</a:t>
            </a:r>
          </a:p>
          <a:p>
            <a:pPr algn="just"/>
            <a:r>
              <a:rPr lang="en-US" b="1" dirty="0"/>
              <a:t>Open Source </a:t>
            </a:r>
            <a:r>
              <a:rPr lang="en-US" dirty="0"/>
              <a:t>– Free to use and modify.</a:t>
            </a:r>
            <a:endParaRPr lang="en-IN" dirty="0"/>
          </a:p>
        </p:txBody>
      </p:sp>
    </p:spTree>
    <p:extLst>
      <p:ext uri="{BB962C8B-B14F-4D97-AF65-F5344CB8AC3E}">
        <p14:creationId xmlns:p14="http://schemas.microsoft.com/office/powerpoint/2010/main" val="2966286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0B6A-E739-49A7-86F1-DE041FDEF9F1}"/>
              </a:ext>
            </a:extLst>
          </p:cNvPr>
          <p:cNvSpPr>
            <a:spLocks noGrp="1"/>
          </p:cNvSpPr>
          <p:nvPr>
            <p:ph type="title"/>
          </p:nvPr>
        </p:nvSpPr>
        <p:spPr/>
        <p:txBody>
          <a:bodyPr/>
          <a:lstStyle/>
          <a:p>
            <a:r>
              <a:rPr lang="en-IN" b="0" i="0" dirty="0">
                <a:solidFill>
                  <a:srgbClr val="000000"/>
                </a:solidFill>
                <a:effectLst/>
                <a:latin typeface="Rockwell Condensed" panose="02060603050405020104" pitchFamily="18" charset="0"/>
              </a:rPr>
              <a:t>Python Syntax</a:t>
            </a:r>
            <a:br>
              <a:rPr lang="en-IN" b="0" i="0" dirty="0">
                <a:solidFill>
                  <a:srgbClr val="000000"/>
                </a:solidFill>
                <a:effectLst/>
                <a:latin typeface="Rockwell Condensed" panose="02060603050405020104" pitchFamily="18" charset="0"/>
              </a:rPr>
            </a:br>
            <a:endParaRPr lang="en-IN" dirty="0">
              <a:latin typeface="Rockwell Condensed" panose="02060603050405020104" pitchFamily="18" charset="0"/>
            </a:endParaRPr>
          </a:p>
        </p:txBody>
      </p:sp>
      <p:sp>
        <p:nvSpPr>
          <p:cNvPr id="3" name="Content Placeholder 2">
            <a:extLst>
              <a:ext uri="{FF2B5EF4-FFF2-40B4-BE49-F238E27FC236}">
                <a16:creationId xmlns:a16="http://schemas.microsoft.com/office/drawing/2014/main" id="{6DD3C8D4-1A26-4AB9-9F8C-DC7D8D63BCFF}"/>
              </a:ext>
            </a:extLst>
          </p:cNvPr>
          <p:cNvSpPr>
            <a:spLocks noGrp="1"/>
          </p:cNvSpPr>
          <p:nvPr>
            <p:ph idx="1"/>
          </p:nvPr>
        </p:nvSpPr>
        <p:spPr/>
        <p:txBody>
          <a:bodyPr>
            <a:normAutofit fontScale="85000" lnSpcReduction="20000"/>
          </a:bodyPr>
          <a:lstStyle/>
          <a:p>
            <a:pPr algn="just"/>
            <a:r>
              <a:rPr lang="en-US" dirty="0"/>
              <a:t>Python was designed for readability, and has some similarities to the English language with influence from mathematics.</a:t>
            </a:r>
          </a:p>
          <a:p>
            <a:pPr algn="just"/>
            <a:r>
              <a:rPr lang="en-US" dirty="0"/>
              <a:t>Python uses new lines to complete a command, as opposed to other programming languages which often use semicolons or parentheses.</a:t>
            </a:r>
          </a:p>
          <a:p>
            <a:pPr algn="just"/>
            <a:r>
              <a:rPr lang="en-US" dirty="0"/>
              <a:t>Python relies on indentation, using whitespace, to define scope; such as the scope of loops, functions and classes. Other programming languages often use curly-brackets for this purpose.</a:t>
            </a:r>
          </a:p>
          <a:p>
            <a:pPr algn="just"/>
            <a:endParaRPr lang="en-US" dirty="0"/>
          </a:p>
          <a:p>
            <a:pPr marL="0" indent="0" algn="just">
              <a:buNone/>
            </a:pPr>
            <a:r>
              <a:rPr lang="en-IN" b="0" i="0" dirty="0">
                <a:solidFill>
                  <a:srgbClr val="0000CD"/>
                </a:solidFill>
                <a:effectLst/>
                <a:latin typeface="Consolas" panose="020B0609020204030204" pitchFamily="49" charset="0"/>
              </a:rPr>
              <a:t>print</a:t>
            </a:r>
            <a:r>
              <a:rPr lang="en-IN" b="0" i="0" dirty="0">
                <a:solidFill>
                  <a:srgbClr val="000000"/>
                </a:solidFill>
                <a:effectLst/>
                <a:latin typeface="Consolas" panose="020B0609020204030204" pitchFamily="49" charset="0"/>
              </a:rPr>
              <a:t>(</a:t>
            </a:r>
            <a:r>
              <a:rPr lang="en-IN" b="0" i="0" dirty="0">
                <a:solidFill>
                  <a:srgbClr val="A52A2A"/>
                </a:solidFill>
                <a:effectLst/>
                <a:latin typeface="Consolas" panose="020B0609020204030204" pitchFamily="49" charset="0"/>
              </a:rPr>
              <a:t>"Hello, World!"</a:t>
            </a:r>
            <a:r>
              <a:rPr lang="en-IN" b="0" i="0" dirty="0">
                <a:solidFill>
                  <a:srgbClr val="000000"/>
                </a:solidFill>
                <a:effectLst/>
                <a:latin typeface="Consolas" panose="020B0609020204030204" pitchFamily="49" charset="0"/>
              </a:rPr>
              <a:t>)</a:t>
            </a:r>
          </a:p>
          <a:p>
            <a:pPr marL="0" indent="0" algn="just">
              <a:buNone/>
            </a:pPr>
            <a:endParaRPr lang="en-IN" b="0" i="0" dirty="0">
              <a:solidFill>
                <a:srgbClr val="000000"/>
              </a:solidFill>
              <a:effectLst/>
              <a:latin typeface="Consolas" panose="020B0609020204030204" pitchFamily="49" charset="0"/>
            </a:endParaRPr>
          </a:p>
          <a:p>
            <a:pPr marL="0" indent="0" algn="just">
              <a:buNone/>
            </a:pPr>
            <a:r>
              <a:rPr lang="en-IN" b="0" i="0" dirty="0">
                <a:solidFill>
                  <a:srgbClr val="000000"/>
                </a:solidFill>
                <a:effectLst/>
                <a:latin typeface="Consolas" panose="020B0609020204030204" pitchFamily="49" charset="0"/>
              </a:rPr>
              <a:t>How this works?</a:t>
            </a:r>
          </a:p>
          <a:p>
            <a:pPr algn="just"/>
            <a:r>
              <a:rPr lang="en-US" dirty="0"/>
              <a:t>print() is a built-in function in Python that tells the program to display something on the screen. We need to add the string in parenthesis of print() function that we are displaying on the screen.</a:t>
            </a:r>
          </a:p>
          <a:p>
            <a:pPr algn="just"/>
            <a:r>
              <a:rPr lang="en-US" dirty="0"/>
              <a:t>“Hello, World!” is a string text that we want to display. Strings are always enclosed in quotation marks.</a:t>
            </a:r>
            <a:endParaRPr lang="en-IN" dirty="0"/>
          </a:p>
        </p:txBody>
      </p:sp>
    </p:spTree>
    <p:extLst>
      <p:ext uri="{BB962C8B-B14F-4D97-AF65-F5344CB8AC3E}">
        <p14:creationId xmlns:p14="http://schemas.microsoft.com/office/powerpoint/2010/main" val="2395235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23A24A-B330-EEB7-67D8-83F7A0D1D48F}"/>
              </a:ext>
            </a:extLst>
          </p:cNvPr>
          <p:cNvSpPr>
            <a:spLocks noGrp="1"/>
          </p:cNvSpPr>
          <p:nvPr>
            <p:ph type="title"/>
          </p:nvPr>
        </p:nvSpPr>
        <p:spPr/>
        <p:txBody>
          <a:bodyPr>
            <a:normAutofit/>
          </a:bodyPr>
          <a:lstStyle/>
          <a:p>
            <a:r>
              <a:rPr lang="en-US" sz="4800" dirty="0"/>
              <a:t>Syntax Comparison</a:t>
            </a:r>
            <a:endParaRPr lang="en-IN" sz="4800" dirty="0"/>
          </a:p>
        </p:txBody>
      </p:sp>
      <p:sp>
        <p:nvSpPr>
          <p:cNvPr id="5" name="Content Placeholder 4">
            <a:extLst>
              <a:ext uri="{FF2B5EF4-FFF2-40B4-BE49-F238E27FC236}">
                <a16:creationId xmlns:a16="http://schemas.microsoft.com/office/drawing/2014/main" id="{EADB557E-ACC8-3B4F-B3BD-37DA19F74D75}"/>
              </a:ext>
            </a:extLst>
          </p:cNvPr>
          <p:cNvSpPr>
            <a:spLocks noGrp="1"/>
          </p:cNvSpPr>
          <p:nvPr>
            <p:ph sz="half" idx="1"/>
          </p:nvPr>
        </p:nvSpPr>
        <p:spPr/>
        <p:txBody>
          <a:bodyPr/>
          <a:lstStyle/>
          <a:p>
            <a:pPr marL="0" indent="0" algn="ctr">
              <a:buNone/>
            </a:pPr>
            <a:r>
              <a:rPr lang="en-US" b="1" i="1" dirty="0">
                <a:solidFill>
                  <a:schemeClr val="accent2"/>
                </a:solidFill>
              </a:rPr>
              <a:t>C</a:t>
            </a:r>
          </a:p>
          <a:p>
            <a:pPr marL="0" indent="0">
              <a:buNone/>
            </a:pPr>
            <a:endParaRPr lang="en-US" dirty="0"/>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 {</a:t>
            </a:r>
          </a:p>
          <a:p>
            <a:pPr marL="0" indent="0">
              <a:buNone/>
            </a:pPr>
            <a:r>
              <a:rPr lang="en-US" dirty="0"/>
              <a:t>    </a:t>
            </a:r>
            <a:r>
              <a:rPr lang="en-US" dirty="0" err="1"/>
              <a:t>printf</a:t>
            </a:r>
            <a:r>
              <a:rPr lang="en-US" dirty="0"/>
              <a:t>("Hello, World!");</a:t>
            </a:r>
          </a:p>
          <a:p>
            <a:pPr marL="0" indent="0">
              <a:buNone/>
            </a:pPr>
            <a:r>
              <a:rPr lang="en-US" dirty="0"/>
              <a:t>    return 0;</a:t>
            </a:r>
          </a:p>
          <a:p>
            <a:pPr marL="0" indent="0">
              <a:buNone/>
            </a:pPr>
            <a:r>
              <a:rPr lang="en-US" dirty="0"/>
              <a:t>}</a:t>
            </a:r>
          </a:p>
          <a:p>
            <a:pPr marL="0" indent="0">
              <a:buNone/>
            </a:pPr>
            <a:endParaRPr lang="en-IN" dirty="0"/>
          </a:p>
        </p:txBody>
      </p:sp>
      <p:sp>
        <p:nvSpPr>
          <p:cNvPr id="6" name="Content Placeholder 5">
            <a:extLst>
              <a:ext uri="{FF2B5EF4-FFF2-40B4-BE49-F238E27FC236}">
                <a16:creationId xmlns:a16="http://schemas.microsoft.com/office/drawing/2014/main" id="{26043CD2-04C7-EFF5-99A9-95F132004E3D}"/>
              </a:ext>
            </a:extLst>
          </p:cNvPr>
          <p:cNvSpPr>
            <a:spLocks noGrp="1"/>
          </p:cNvSpPr>
          <p:nvPr>
            <p:ph sz="half" idx="2"/>
          </p:nvPr>
        </p:nvSpPr>
        <p:spPr/>
        <p:txBody>
          <a:bodyPr/>
          <a:lstStyle/>
          <a:p>
            <a:pPr marL="0" indent="0" algn="ctr">
              <a:buNone/>
            </a:pPr>
            <a:r>
              <a:rPr lang="en-IN" b="1" i="1" dirty="0">
                <a:solidFill>
                  <a:schemeClr val="accent2"/>
                </a:solidFill>
              </a:rPr>
              <a:t>Python</a:t>
            </a:r>
          </a:p>
          <a:p>
            <a:pPr marL="0" indent="0">
              <a:buNone/>
            </a:pPr>
            <a:endParaRPr lang="en-IN" dirty="0"/>
          </a:p>
          <a:p>
            <a:pPr marL="0" indent="0">
              <a:buNone/>
            </a:pPr>
            <a:r>
              <a:rPr lang="en-IN" dirty="0"/>
              <a:t>print("Hello, World!")</a:t>
            </a:r>
          </a:p>
          <a:p>
            <a:pPr marL="0" indent="0">
              <a:buNone/>
            </a:pPr>
            <a:endParaRPr lang="en-IN" dirty="0"/>
          </a:p>
        </p:txBody>
      </p:sp>
      <p:cxnSp>
        <p:nvCxnSpPr>
          <p:cNvPr id="8" name="Straight Connector 7">
            <a:extLst>
              <a:ext uri="{FF2B5EF4-FFF2-40B4-BE49-F238E27FC236}">
                <a16:creationId xmlns:a16="http://schemas.microsoft.com/office/drawing/2014/main" id="{FADCF343-A1A8-FBC8-4AF1-DBAEF1A88923}"/>
              </a:ext>
            </a:extLst>
          </p:cNvPr>
          <p:cNvCxnSpPr>
            <a:cxnSpLocks/>
          </p:cNvCxnSpPr>
          <p:nvPr/>
        </p:nvCxnSpPr>
        <p:spPr>
          <a:xfrm>
            <a:off x="6096000" y="2286000"/>
            <a:ext cx="0" cy="35725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191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550BA-5AF5-E6BC-2C30-86CDFA68B3F3}"/>
              </a:ext>
            </a:extLst>
          </p:cNvPr>
          <p:cNvSpPr>
            <a:spLocks noGrp="1"/>
          </p:cNvSpPr>
          <p:nvPr>
            <p:ph type="title"/>
          </p:nvPr>
        </p:nvSpPr>
        <p:spPr/>
        <p:txBody>
          <a:bodyPr/>
          <a:lstStyle/>
          <a:p>
            <a:r>
              <a:rPr lang="en-IN" dirty="0"/>
              <a:t>History of Python</a:t>
            </a:r>
          </a:p>
        </p:txBody>
      </p:sp>
      <p:sp>
        <p:nvSpPr>
          <p:cNvPr id="3" name="Content Placeholder 2">
            <a:extLst>
              <a:ext uri="{FF2B5EF4-FFF2-40B4-BE49-F238E27FC236}">
                <a16:creationId xmlns:a16="http://schemas.microsoft.com/office/drawing/2014/main" id="{A8EBC6BC-8A82-E6BB-4880-6F015140CA63}"/>
              </a:ext>
            </a:extLst>
          </p:cNvPr>
          <p:cNvSpPr>
            <a:spLocks noGrp="1"/>
          </p:cNvSpPr>
          <p:nvPr>
            <p:ph idx="1"/>
          </p:nvPr>
        </p:nvSpPr>
        <p:spPr/>
        <p:txBody>
          <a:bodyPr/>
          <a:lstStyle/>
          <a:p>
            <a:r>
              <a:rPr lang="en-IN" b="1" dirty="0"/>
              <a:t>Created by:</a:t>
            </a:r>
            <a:r>
              <a:rPr lang="en-IN" dirty="0"/>
              <a:t> Guido van Rossum in </a:t>
            </a:r>
            <a:r>
              <a:rPr lang="en-IN" b="1" dirty="0"/>
              <a:t>1989</a:t>
            </a:r>
            <a:br>
              <a:rPr lang="en-IN" dirty="0"/>
            </a:br>
            <a:r>
              <a:rPr lang="en-IN" dirty="0"/>
              <a:t> </a:t>
            </a:r>
            <a:r>
              <a:rPr lang="en-IN" b="1" dirty="0"/>
              <a:t>Released in:</a:t>
            </a:r>
            <a:r>
              <a:rPr lang="en-IN" dirty="0"/>
              <a:t> 1991 (Python 1.0)</a:t>
            </a:r>
            <a:br>
              <a:rPr lang="en-IN" dirty="0"/>
            </a:br>
            <a:r>
              <a:rPr lang="en-IN" dirty="0"/>
              <a:t> </a:t>
            </a:r>
          </a:p>
          <a:p>
            <a:r>
              <a:rPr lang="en-IN" b="1" dirty="0"/>
              <a:t>Major Versions:</a:t>
            </a:r>
            <a:endParaRPr lang="en-IN" dirty="0"/>
          </a:p>
          <a:p>
            <a:pPr>
              <a:buFont typeface="Arial" panose="020B0604020202020204" pitchFamily="34" charset="0"/>
              <a:buChar char="•"/>
            </a:pPr>
            <a:r>
              <a:rPr lang="en-IN" b="1" dirty="0"/>
              <a:t>Python 2.x</a:t>
            </a:r>
            <a:r>
              <a:rPr lang="en-IN" dirty="0"/>
              <a:t> (2000) – Introduced various features.</a:t>
            </a:r>
          </a:p>
          <a:p>
            <a:pPr>
              <a:buFont typeface="Arial" panose="020B0604020202020204" pitchFamily="34" charset="0"/>
              <a:buChar char="•"/>
            </a:pPr>
            <a:r>
              <a:rPr lang="en-IN" b="1" dirty="0"/>
              <a:t>Python 3.x</a:t>
            </a:r>
            <a:r>
              <a:rPr lang="en-IN" dirty="0"/>
              <a:t> (2008 - Present) – Major improvements, not backward compatible.</a:t>
            </a:r>
          </a:p>
          <a:p>
            <a:endParaRPr lang="en-IN" dirty="0"/>
          </a:p>
        </p:txBody>
      </p:sp>
    </p:spTree>
    <p:extLst>
      <p:ext uri="{BB962C8B-B14F-4D97-AF65-F5344CB8AC3E}">
        <p14:creationId xmlns:p14="http://schemas.microsoft.com/office/powerpoint/2010/main" val="253471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1C0FE-79F0-7806-4C84-8FBE78E404D9}"/>
              </a:ext>
            </a:extLst>
          </p:cNvPr>
          <p:cNvSpPr>
            <a:spLocks noGrp="1"/>
          </p:cNvSpPr>
          <p:nvPr>
            <p:ph type="title"/>
          </p:nvPr>
        </p:nvSpPr>
        <p:spPr/>
        <p:txBody>
          <a:bodyPr/>
          <a:lstStyle/>
          <a:p>
            <a:r>
              <a:rPr lang="en-IN" dirty="0"/>
              <a:t>Python Versions</a:t>
            </a:r>
          </a:p>
        </p:txBody>
      </p:sp>
      <p:sp>
        <p:nvSpPr>
          <p:cNvPr id="4" name="Rectangle 1">
            <a:extLst>
              <a:ext uri="{FF2B5EF4-FFF2-40B4-BE49-F238E27FC236}">
                <a16:creationId xmlns:a16="http://schemas.microsoft.com/office/drawing/2014/main" id="{30733589-D933-E804-0AEA-870D353716FB}"/>
              </a:ext>
            </a:extLst>
          </p:cNvPr>
          <p:cNvSpPr>
            <a:spLocks noGrp="1" noChangeArrowheads="1"/>
          </p:cNvSpPr>
          <p:nvPr>
            <p:ph idx="1"/>
          </p:nvPr>
        </p:nvSpPr>
        <p:spPr bwMode="auto">
          <a:xfrm>
            <a:off x="1069848" y="2141128"/>
            <a:ext cx="5454955" cy="401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Latest stable version: </a:t>
            </a:r>
            <a:r>
              <a:rPr kumimoji="0" lang="en-US" altLang="en-US" sz="1800" b="1" i="0" u="none" strike="noStrike" cap="none" normalizeH="0" baseline="0">
                <a:ln>
                  <a:noFill/>
                </a:ln>
                <a:solidFill>
                  <a:schemeClr val="tx1"/>
                </a:solidFill>
                <a:effectLst/>
              </a:rPr>
              <a:t>Python 3.</a:t>
            </a:r>
            <a:r>
              <a:rPr lang="en-US" altLang="en-US" sz="1800" b="1"/>
              <a:t>14.7</a:t>
            </a:r>
            <a:endParaRPr lang="en-US" altLang="en-US" sz="1800" dirty="0"/>
          </a:p>
          <a:p>
            <a:pPr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rPr>
              <a:t>Python 2.x</a:t>
            </a:r>
            <a:r>
              <a:rPr kumimoji="0" lang="en-US" altLang="en-US" sz="1800" b="0" i="0" u="none" strike="noStrike" cap="none" normalizeH="0" baseline="0" dirty="0">
                <a:ln>
                  <a:noFill/>
                </a:ln>
                <a:solidFill>
                  <a:schemeClr val="tx1"/>
                </a:solidFill>
                <a:effectLst/>
              </a:rPr>
              <a:t> support ended in 2020.</a:t>
            </a:r>
          </a:p>
          <a:p>
            <a:pPr eaLnBrk="0" fontAlgn="base" hangingPunct="0">
              <a:lnSpc>
                <a:spcPct val="150000"/>
              </a:lnSpc>
              <a:spcBef>
                <a:spcPct val="0"/>
              </a:spcBef>
              <a:spcAft>
                <a:spcPct val="0"/>
              </a:spcAft>
              <a:buClrTx/>
              <a:buSzTx/>
            </a:pPr>
            <a:endParaRPr lang="en-US" altLang="en-US" sz="1800" dirty="0"/>
          </a:p>
          <a:p>
            <a:pPr marL="0" indent="0" eaLnBrk="0" fontAlgn="base" hangingPunct="0">
              <a:lnSpc>
                <a:spcPct val="150000"/>
              </a:lnSpc>
              <a:spcBef>
                <a:spcPct val="0"/>
              </a:spcBef>
              <a:spcAft>
                <a:spcPct val="0"/>
              </a:spcAft>
              <a:buClrTx/>
              <a:buSzTx/>
              <a:buNone/>
            </a:pPr>
            <a:endParaRPr lang="en-US" altLang="en-US" sz="1800" dirty="0"/>
          </a:p>
          <a:p>
            <a:pPr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rPr>
              <a:t>Key Enhancements in Python 3:</a:t>
            </a:r>
            <a:endParaRPr kumimoji="0" lang="en-US" altLang="en-US" sz="1800" b="0" i="0" u="none" strike="noStrike" cap="none" normalizeH="0" baseline="0" dirty="0">
              <a:ln>
                <a:noFill/>
              </a:ln>
              <a:solidFill>
                <a:schemeClr val="tx1"/>
              </a:solidFill>
              <a:effectLst/>
            </a:endParaRPr>
          </a:p>
          <a:p>
            <a:pPr marL="274320" lvl="1" indent="0" eaLnBrk="0" fontAlgn="base" hangingPunct="0">
              <a:lnSpc>
                <a:spcPct val="15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Print function:</a:t>
            </a:r>
          </a:p>
          <a:p>
            <a:pPr marL="274320" lvl="1" indent="0" eaLnBrk="0" fontAlgn="base" hangingPunct="0">
              <a:lnSpc>
                <a:spcPct val="150000"/>
              </a:lnSpc>
              <a:spcBef>
                <a:spcPct val="0"/>
              </a:spcBef>
              <a:spcAft>
                <a:spcPct val="0"/>
              </a:spcAft>
              <a:buClrTx/>
              <a:buSzTx/>
              <a:buNone/>
            </a:pP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accent2">
                    <a:lumMod val="75000"/>
                  </a:schemeClr>
                </a:solidFill>
                <a:effectLst/>
              </a:rPr>
              <a:t>print("Hello") </a:t>
            </a:r>
            <a:r>
              <a:rPr kumimoji="0" lang="en-US" altLang="en-US" sz="1600" b="0" i="0" u="none" strike="noStrike" cap="none" normalizeH="0" baseline="0" dirty="0">
                <a:ln>
                  <a:noFill/>
                </a:ln>
                <a:solidFill>
                  <a:schemeClr val="tx1"/>
                </a:solidFill>
                <a:effectLst/>
              </a:rPr>
              <a:t>instead of </a:t>
            </a:r>
            <a:r>
              <a:rPr kumimoji="0" lang="en-US" altLang="en-US" sz="1600" b="0" i="0" u="none" strike="noStrike" cap="none" normalizeH="0" baseline="0" dirty="0">
                <a:ln>
                  <a:noFill/>
                </a:ln>
                <a:solidFill>
                  <a:schemeClr val="accent2">
                    <a:lumMod val="75000"/>
                  </a:schemeClr>
                </a:solidFill>
                <a:effectLst/>
              </a:rPr>
              <a:t>print "Hello"</a:t>
            </a:r>
          </a:p>
          <a:p>
            <a:pPr marL="274320" lvl="1" indent="0" eaLnBrk="0" fontAlgn="base" hangingPunct="0">
              <a:lnSpc>
                <a:spcPct val="15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Unicode support : All strings are Unicode by default.</a:t>
            </a:r>
          </a:p>
          <a:p>
            <a:pPr marL="274320" lvl="1" indent="0" eaLnBrk="0" fontAlgn="base" hangingPunct="0">
              <a:lnSpc>
                <a:spcPct val="15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Better error handling and memory management.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00C32FD3-E62E-DA5B-B47E-B89B2BC5E59C}"/>
              </a:ext>
            </a:extLst>
          </p:cNvPr>
          <p:cNvSpPr>
            <a:spLocks noChangeArrowheads="1"/>
          </p:cNvSpPr>
          <p:nvPr/>
        </p:nvSpPr>
        <p:spPr bwMode="auto">
          <a:xfrm rot="10800000" flipV="1">
            <a:off x="6567576" y="2141128"/>
            <a:ext cx="525718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Major version</a:t>
            </a:r>
            <a:r>
              <a:rPr kumimoji="0" lang="en-US" altLang="en-US" sz="1800" b="0" i="0" u="none" strike="noStrike" cap="none" normalizeH="0" baseline="0" dirty="0">
                <a:ln>
                  <a:noFill/>
                </a:ln>
                <a:solidFill>
                  <a:schemeClr val="tx1"/>
                </a:solidFill>
                <a:effectLst/>
                <a:latin typeface="Arial" panose="020B0604020202020204" pitchFamily="34" charset="0"/>
              </a:rPr>
              <a:t> (Significant changes, not backward compatible with Python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14</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Minor version</a:t>
            </a:r>
            <a:r>
              <a:rPr kumimoji="0" lang="en-US" altLang="en-US" sz="1800" b="0" i="0" u="none" strike="noStrike" cap="none" normalizeH="0" baseline="0" dirty="0">
                <a:ln>
                  <a:noFill/>
                </a:ln>
                <a:solidFill>
                  <a:schemeClr val="tx1"/>
                </a:solidFill>
                <a:effectLst/>
                <a:latin typeface="Arial" panose="020B0604020202020204" pitchFamily="34" charset="0"/>
              </a:rPr>
              <a:t> (New features and improvements, but backward compatible within Python 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7</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Patch version</a:t>
            </a:r>
            <a:r>
              <a:rPr kumimoji="0" lang="en-US" altLang="en-US" sz="1800" b="0" i="0" u="none" strike="noStrike" cap="none" normalizeH="0" baseline="0" dirty="0">
                <a:ln>
                  <a:noFill/>
                </a:ln>
                <a:solidFill>
                  <a:schemeClr val="tx1"/>
                </a:solidFill>
                <a:effectLst/>
                <a:latin typeface="Arial" panose="020B0604020202020204" pitchFamily="34" charset="0"/>
              </a:rPr>
              <a:t> (Bug fixes and minor updates, no new features)</a:t>
            </a:r>
          </a:p>
        </p:txBody>
      </p:sp>
    </p:spTree>
    <p:extLst>
      <p:ext uri="{BB962C8B-B14F-4D97-AF65-F5344CB8AC3E}">
        <p14:creationId xmlns:p14="http://schemas.microsoft.com/office/powerpoint/2010/main" val="699660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6DEB4-A406-5674-A90D-8A26C1D16405}"/>
              </a:ext>
            </a:extLst>
          </p:cNvPr>
          <p:cNvSpPr>
            <a:spLocks noGrp="1"/>
          </p:cNvSpPr>
          <p:nvPr>
            <p:ph type="title"/>
          </p:nvPr>
        </p:nvSpPr>
        <p:spPr/>
        <p:txBody>
          <a:bodyPr/>
          <a:lstStyle/>
          <a:p>
            <a:r>
              <a:rPr lang="en-IN" dirty="0"/>
              <a:t>Applications of Python</a:t>
            </a:r>
          </a:p>
        </p:txBody>
      </p:sp>
      <p:sp>
        <p:nvSpPr>
          <p:cNvPr id="3" name="Content Placeholder 2">
            <a:extLst>
              <a:ext uri="{FF2B5EF4-FFF2-40B4-BE49-F238E27FC236}">
                <a16:creationId xmlns:a16="http://schemas.microsoft.com/office/drawing/2014/main" id="{BD3A35BE-28B9-D1F9-D79E-3555708E9F87}"/>
              </a:ext>
            </a:extLst>
          </p:cNvPr>
          <p:cNvSpPr>
            <a:spLocks noGrp="1"/>
          </p:cNvSpPr>
          <p:nvPr>
            <p:ph idx="1"/>
          </p:nvPr>
        </p:nvSpPr>
        <p:spPr/>
        <p:txBody>
          <a:bodyPr/>
          <a:lstStyle/>
          <a:p>
            <a:r>
              <a:rPr lang="en-IN" b="1" dirty="0"/>
              <a:t>Artificial Intelligence &amp; Machine Learning</a:t>
            </a:r>
            <a:r>
              <a:rPr lang="en-IN" dirty="0"/>
              <a:t> (TensorFlow, </a:t>
            </a:r>
            <a:r>
              <a:rPr lang="en-IN" dirty="0" err="1"/>
              <a:t>PyTorch</a:t>
            </a:r>
            <a:r>
              <a:rPr lang="en-IN" dirty="0"/>
              <a:t>)</a:t>
            </a:r>
          </a:p>
          <a:p>
            <a:r>
              <a:rPr lang="en-IN" b="1" dirty="0"/>
              <a:t>Web Development</a:t>
            </a:r>
            <a:r>
              <a:rPr lang="en-IN" dirty="0"/>
              <a:t> (Django, Flask)</a:t>
            </a:r>
          </a:p>
          <a:p>
            <a:r>
              <a:rPr lang="en-IN" b="1" dirty="0"/>
              <a:t>Data Science &amp; Analytics</a:t>
            </a:r>
            <a:r>
              <a:rPr lang="en-IN" dirty="0"/>
              <a:t> (Pandas, NumPy, Matplotlib)</a:t>
            </a:r>
          </a:p>
          <a:p>
            <a:r>
              <a:rPr lang="en-IN" b="1" dirty="0"/>
              <a:t>Cybersecurity &amp; Ethical Hacking</a:t>
            </a:r>
          </a:p>
          <a:p>
            <a:r>
              <a:rPr lang="en-IN" dirty="0"/>
              <a:t> </a:t>
            </a:r>
            <a:r>
              <a:rPr lang="en-IN" b="1" dirty="0"/>
              <a:t>Automation &amp; Scripting</a:t>
            </a:r>
            <a:r>
              <a:rPr lang="en-IN" dirty="0"/>
              <a:t> (Selenium, OpenCV)</a:t>
            </a:r>
          </a:p>
          <a:p>
            <a:r>
              <a:rPr lang="en-IN" b="1" dirty="0"/>
              <a:t>Game Development</a:t>
            </a:r>
            <a:r>
              <a:rPr lang="en-IN" dirty="0"/>
              <a:t> (</a:t>
            </a:r>
            <a:r>
              <a:rPr lang="en-IN" dirty="0" err="1"/>
              <a:t>Pygame</a:t>
            </a:r>
            <a:r>
              <a:rPr lang="en-IN" dirty="0"/>
              <a:t>)</a:t>
            </a:r>
          </a:p>
        </p:txBody>
      </p:sp>
    </p:spTree>
    <p:extLst>
      <p:ext uri="{BB962C8B-B14F-4D97-AF65-F5344CB8AC3E}">
        <p14:creationId xmlns:p14="http://schemas.microsoft.com/office/powerpoint/2010/main" val="3932143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8C24-B59C-A6FB-72BB-11CEFD499D21}"/>
              </a:ext>
            </a:extLst>
          </p:cNvPr>
          <p:cNvSpPr>
            <a:spLocks noGrp="1"/>
          </p:cNvSpPr>
          <p:nvPr>
            <p:ph type="title"/>
          </p:nvPr>
        </p:nvSpPr>
        <p:spPr/>
        <p:txBody>
          <a:bodyPr/>
          <a:lstStyle/>
          <a:p>
            <a:r>
              <a:rPr lang="en-IN" dirty="0"/>
              <a:t>Installing Python (Windows &amp; macOS)</a:t>
            </a:r>
          </a:p>
        </p:txBody>
      </p:sp>
      <p:sp>
        <p:nvSpPr>
          <p:cNvPr id="3" name="Content Placeholder 2">
            <a:extLst>
              <a:ext uri="{FF2B5EF4-FFF2-40B4-BE49-F238E27FC236}">
                <a16:creationId xmlns:a16="http://schemas.microsoft.com/office/drawing/2014/main" id="{15EB719A-07BF-B763-1058-A01EF7CEADAB}"/>
              </a:ext>
            </a:extLst>
          </p:cNvPr>
          <p:cNvSpPr>
            <a:spLocks noGrp="1"/>
          </p:cNvSpPr>
          <p:nvPr>
            <p:ph idx="1"/>
          </p:nvPr>
        </p:nvSpPr>
        <p:spPr/>
        <p:txBody>
          <a:bodyPr/>
          <a:lstStyle/>
          <a:p>
            <a:r>
              <a:rPr lang="en-US" b="1" dirty="0"/>
              <a:t>Download Python:</a:t>
            </a:r>
            <a:r>
              <a:rPr lang="en-US" dirty="0"/>
              <a:t> Go to </a:t>
            </a:r>
            <a:r>
              <a:rPr lang="en-US" dirty="0">
                <a:hlinkClick r:id="rId2"/>
              </a:rPr>
              <a:t>https://www.python.org/downloads/</a:t>
            </a:r>
            <a:endParaRPr lang="en-US" dirty="0"/>
          </a:p>
          <a:p>
            <a:r>
              <a:rPr lang="en-US" b="1" dirty="0"/>
              <a:t>Run Installer:</a:t>
            </a:r>
            <a:r>
              <a:rPr lang="en-US" dirty="0"/>
              <a:t> Select </a:t>
            </a:r>
            <a:r>
              <a:rPr lang="en-US" b="1" dirty="0"/>
              <a:t>“Add Python to PATH”</a:t>
            </a:r>
            <a:r>
              <a:rPr lang="en-US" dirty="0"/>
              <a:t> and install.</a:t>
            </a:r>
          </a:p>
          <a:p>
            <a:r>
              <a:rPr lang="en-US" b="1" dirty="0"/>
              <a:t>Verify Installation:</a:t>
            </a:r>
            <a:r>
              <a:rPr lang="en-US" dirty="0"/>
              <a:t> Open terminal and type:</a:t>
            </a:r>
          </a:p>
          <a:p>
            <a:pPr marL="0" indent="0">
              <a:buNone/>
            </a:pPr>
            <a:r>
              <a:rPr lang="en-IN" dirty="0"/>
              <a:t>    python --version</a:t>
            </a:r>
          </a:p>
          <a:p>
            <a:endParaRPr lang="en-IN" dirty="0"/>
          </a:p>
        </p:txBody>
      </p:sp>
    </p:spTree>
    <p:extLst>
      <p:ext uri="{BB962C8B-B14F-4D97-AF65-F5344CB8AC3E}">
        <p14:creationId xmlns:p14="http://schemas.microsoft.com/office/powerpoint/2010/main" val="3737295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F8BE-E432-3084-728D-55D4264822BC}"/>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75248C49-4222-CC7E-0613-C40B633A6124}"/>
              </a:ext>
            </a:extLst>
          </p:cNvPr>
          <p:cNvSpPr>
            <a:spLocks noGrp="1"/>
          </p:cNvSpPr>
          <p:nvPr>
            <p:ph idx="1"/>
          </p:nvPr>
        </p:nvSpPr>
        <p:spPr/>
        <p:txBody>
          <a:bodyPr/>
          <a:lstStyle/>
          <a:p>
            <a:r>
              <a:rPr lang="en-US" dirty="0"/>
              <a:t>Python is </a:t>
            </a:r>
            <a:r>
              <a:rPr lang="en-US" b="1" dirty="0"/>
              <a:t>easy, powerful, and widely used</a:t>
            </a:r>
          </a:p>
          <a:p>
            <a:r>
              <a:rPr lang="en-US" dirty="0"/>
              <a:t>Python 3.x is the </a:t>
            </a:r>
            <a:r>
              <a:rPr lang="en-US" b="1" dirty="0"/>
              <a:t>current version</a:t>
            </a:r>
          </a:p>
          <a:p>
            <a:r>
              <a:rPr lang="en-US" dirty="0"/>
              <a:t>Applications include </a:t>
            </a:r>
            <a:r>
              <a:rPr lang="en-US" b="1" dirty="0"/>
              <a:t>AI, web development, data science, automation, and more</a:t>
            </a:r>
          </a:p>
          <a:p>
            <a:r>
              <a:rPr lang="en-US" dirty="0"/>
              <a:t>Python can be </a:t>
            </a:r>
            <a:r>
              <a:rPr lang="en-US" b="1" dirty="0"/>
              <a:t>installed easily and run in different modes</a:t>
            </a:r>
            <a:endParaRPr lang="en-IN" dirty="0"/>
          </a:p>
        </p:txBody>
      </p:sp>
    </p:spTree>
    <p:extLst>
      <p:ext uri="{BB962C8B-B14F-4D97-AF65-F5344CB8AC3E}">
        <p14:creationId xmlns:p14="http://schemas.microsoft.com/office/powerpoint/2010/main" val="236339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3521-AABE-1FA7-A5C3-D798F3A6666A}"/>
              </a:ext>
            </a:extLst>
          </p:cNvPr>
          <p:cNvSpPr>
            <a:spLocks noGrp="1"/>
          </p:cNvSpPr>
          <p:nvPr>
            <p:ph type="title"/>
          </p:nvPr>
        </p:nvSpPr>
        <p:spPr>
          <a:xfrm>
            <a:off x="928334" y="2465832"/>
            <a:ext cx="10058400" cy="1609344"/>
          </a:xfrm>
        </p:spPr>
        <p:txBody>
          <a:bodyPr/>
          <a:lstStyle/>
          <a:p>
            <a:pPr algn="ctr"/>
            <a:r>
              <a:rPr lang="en-US" dirty="0"/>
              <a:t>Thankyou</a:t>
            </a:r>
            <a:endParaRPr lang="en-IN" dirty="0"/>
          </a:p>
        </p:txBody>
      </p:sp>
    </p:spTree>
    <p:extLst>
      <p:ext uri="{BB962C8B-B14F-4D97-AF65-F5344CB8AC3E}">
        <p14:creationId xmlns:p14="http://schemas.microsoft.com/office/powerpoint/2010/main" val="35877080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otalTime>263</TotalTime>
  <Words>593</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Consolas</vt:lpstr>
      <vt:lpstr>Rockwell</vt:lpstr>
      <vt:lpstr>Rockwell Condensed</vt:lpstr>
      <vt:lpstr>Wingdings</vt:lpstr>
      <vt:lpstr>Wood Type</vt:lpstr>
      <vt:lpstr>Python Introduction</vt:lpstr>
      <vt:lpstr>What is Python? </vt:lpstr>
      <vt:lpstr>Features of Python</vt:lpstr>
      <vt:lpstr>Python Syntax </vt:lpstr>
      <vt:lpstr>Syntax Comparison</vt:lpstr>
      <vt:lpstr>History of Python</vt:lpstr>
      <vt:lpstr>Python Versions</vt:lpstr>
      <vt:lpstr>Applications of Python</vt:lpstr>
      <vt:lpstr>Installing Python (Windows &amp; macOS)</vt:lpstr>
      <vt:lpstr>Summary</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Ishani Sharma</dc:creator>
  <cp:lastModifiedBy>Ishani Sharma</cp:lastModifiedBy>
  <cp:revision>8</cp:revision>
  <dcterms:created xsi:type="dcterms:W3CDTF">2025-01-30T17:35:20Z</dcterms:created>
  <dcterms:modified xsi:type="dcterms:W3CDTF">2026-08-10T09:15:28Z</dcterms:modified>
</cp:coreProperties>
</file>